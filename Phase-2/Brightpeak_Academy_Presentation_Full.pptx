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66" r:id="rId2"/>
    <p:sldId id="268" r:id="rId3"/>
    <p:sldId id="256" r:id="rId4"/>
    <p:sldId id="258" r:id="rId5"/>
    <p:sldId id="257" r:id="rId6"/>
    <p:sldId id="259" r:id="rId7"/>
    <p:sldId id="260" r:id="rId8"/>
    <p:sldId id="261" r:id="rId9"/>
    <p:sldId id="262" r:id="rId10"/>
    <p:sldId id="263" r:id="rId11"/>
    <p:sldId id="269" r:id="rId12"/>
    <p:sldId id="270" r:id="rId13"/>
    <p:sldId id="271" r:id="rId14"/>
    <p:sldId id="272" r:id="rId15"/>
    <p:sldId id="274" r:id="rId16"/>
    <p:sldId id="275" r:id="rId17"/>
    <p:sldId id="276" r:id="rId18"/>
    <p:sldId id="281" r:id="rId19"/>
    <p:sldId id="280" r:id="rId20"/>
    <p:sldId id="278" r:id="rId21"/>
    <p:sldId id="277" r:id="rId22"/>
    <p:sldId id="279" r:id="rId23"/>
    <p:sldId id="265" r:id="rId24"/>
    <p:sldId id="273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Calibri"/>
              </a:rPr>
              <a:t>Accuracy by Strategy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EBE5-45BA-B435-34E904AC6E6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BE5-45BA-B435-34E904AC6E61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EBE5-45BA-B435-34E904AC6E61}"/>
              </c:ext>
            </c:extLst>
          </c:dPt>
          <c:dPt>
            <c:idx val="3"/>
            <c:invertIfNegative val="0"/>
            <c:bubble3D val="0"/>
            <c:spPr>
              <a:solidFill>
                <a:srgbClr val="00C2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EBE5-45BA-B435-34E904AC6E61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1F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Sliding Window</c:v>
                </c:pt>
                <c:pt idx="1">
                  <c:v>Observation Masking</c:v>
                </c:pt>
                <c:pt idx="2">
                  <c:v>Recursive Summary</c:v>
                </c:pt>
                <c:pt idx="3">
                  <c:v>Zone-Based Pruning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66.7</c:v>
                </c:pt>
                <c:pt idx="1">
                  <c:v>66.7</c:v>
                </c:pt>
                <c:pt idx="2">
                  <c:v>66.7</c:v>
                </c:pt>
                <c:pt idx="3">
                  <c:v>83.3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BE5-45BA-B435-34E904AC6E6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4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E4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0190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for a company&#10;&#10;AI-generated content may be incorrect.">
            <a:extLst>
              <a:ext uri="{FF2B5EF4-FFF2-40B4-BE49-F238E27FC236}">
                <a16:creationId xmlns:a16="http://schemas.microsoft.com/office/drawing/2014/main" id="{8D7D058B-0C23-C7C5-770B-BD8F66AFD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358" y="0"/>
            <a:ext cx="72879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47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phone">
            <a:extLst>
              <a:ext uri="{FF2B5EF4-FFF2-40B4-BE49-F238E27FC236}">
                <a16:creationId xmlns:a16="http://schemas.microsoft.com/office/drawing/2014/main" id="{E12247AA-53DC-B850-D8E1-0F94C1811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968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121D35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21D3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1600200" cy="1600200"/>
          </a:xfrm>
          <a:prstGeom prst="roundRect">
            <a:avLst>
              <a:gd name="adj" fmla="val 10286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/home/claude/assets/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914400"/>
            <a:ext cx="1325880" cy="1325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97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BRIGHTPEAK ACADEMY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30632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 Management Assistant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41605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assistant for students, instructors, </a:t>
            </a:r>
            <a:r>
              <a:rPr lang="en-US" sz="150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admins </a:t>
            </a: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Model Context Protocol (MCP), with every request mediated by a secure server that stands between the LLM and the database.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  •   GEMINI LLM   •   SQLITE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"Show me student #1's profile"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121D35"/>
          </a:solidFill>
          <a:ln w="12700">
            <a:solidFill>
              <a:srgbClr val="D4A2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2103120"/>
            <a:ext cx="0" cy="256032"/>
          </a:xfrm>
          <a:prstGeom prst="line">
            <a:avLst/>
          </a:prstGeom>
          <a:noFill/>
          <a:ln w="19050">
            <a:solidFill>
              <a:srgbClr val="3A4568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234440" y="16276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Client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0" y="162763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3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the user's natural-language request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359152"/>
            <a:ext cx="457200" cy="457200"/>
          </a:xfrm>
          <a:prstGeom prst="ellipse">
            <a:avLst/>
          </a:prstGeom>
          <a:solidFill>
            <a:srgbClr val="121D35"/>
          </a:solidFill>
          <a:ln w="12700">
            <a:solidFill>
              <a:srgbClr val="D4A2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59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2816352"/>
            <a:ext cx="0" cy="256032"/>
          </a:xfrm>
          <a:prstGeom prst="line">
            <a:avLst/>
          </a:prstGeom>
          <a:noFill/>
          <a:ln w="19050">
            <a:solidFill>
              <a:srgbClr val="3A4568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234440" y="234086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decides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14800" y="2340864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3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need student data” → picks a tool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072384"/>
            <a:ext cx="457200" cy="457200"/>
          </a:xfrm>
          <a:prstGeom prst="ellipse">
            <a:avLst/>
          </a:prstGeom>
          <a:solidFill>
            <a:srgbClr val="121D35"/>
          </a:solidFill>
          <a:ln w="12700">
            <a:solidFill>
              <a:srgbClr val="D4A2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072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77240" y="3529584"/>
            <a:ext cx="0" cy="256032"/>
          </a:xfrm>
          <a:prstGeom prst="line">
            <a:avLst/>
          </a:prstGeom>
          <a:noFill/>
          <a:ln w="19050">
            <a:solidFill>
              <a:srgbClr val="3A456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234440" y="305409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Agent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114800" y="3054096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3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call_tool(“get_student_profile”, {student_id: 1})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785616"/>
            <a:ext cx="457200" cy="457200"/>
          </a:xfrm>
          <a:prstGeom prst="ellipse">
            <a:avLst/>
          </a:prstGeom>
          <a:solidFill>
            <a:srgbClr val="D4A24E"/>
          </a:solidFill>
          <a:ln w="12700">
            <a:solidFill>
              <a:srgbClr val="D4A2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785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77240" y="4242816"/>
            <a:ext cx="0" cy="256032"/>
          </a:xfrm>
          <a:prstGeom prst="line">
            <a:avLst/>
          </a:prstGeom>
          <a:noFill/>
          <a:ln w="19050">
            <a:solidFill>
              <a:srgbClr val="3A4568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234440" y="37673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Server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114800" y="3767328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3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the input and checks authorization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498848"/>
            <a:ext cx="457200" cy="457200"/>
          </a:xfrm>
          <a:prstGeom prst="ellipse">
            <a:avLst/>
          </a:prstGeom>
          <a:solidFill>
            <a:srgbClr val="121D35"/>
          </a:solidFill>
          <a:ln w="12700">
            <a:solidFill>
              <a:srgbClr val="D4A24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498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77240" y="4956048"/>
            <a:ext cx="0" cy="256032"/>
          </a:xfrm>
          <a:prstGeom prst="line">
            <a:avLst/>
          </a:prstGeom>
          <a:noFill/>
          <a:ln w="19050">
            <a:solidFill>
              <a:srgbClr val="3A4568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234440" y="4480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114800" y="44805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3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the query and returns the student's data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5212080"/>
            <a:ext cx="457200" cy="457200"/>
          </a:xfrm>
          <a:prstGeom prst="ellipse">
            <a:avLst/>
          </a:prstGeom>
          <a:solidFill>
            <a:srgbClr val="121D35"/>
          </a:solidFill>
          <a:ln w="12700">
            <a:solidFill>
              <a:srgbClr val="D4A24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5212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34440" y="519379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114800" y="519379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3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the final, natural-language answer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8640" y="6080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never queries SQLite directly — it only ever decides which tool to call. The MCP Server is the one actually touching the database.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BRIGHTPEAK ACADEMY  •  MCP AI ASSISTANT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LLM never touches the database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flows through an MCP Server, which owns authorization, tool execution, resource access, and input validation.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E8ECF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44144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2807208"/>
            <a:ext cx="2112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a natural-language question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80360" y="2587752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➔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00400" y="2331720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E8ECF4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244144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(LLM)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10128" y="2807208"/>
            <a:ext cx="2112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which tool to call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532120" y="2587752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➔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852160" y="2331720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D4A24E"/>
          </a:solidFill>
          <a:ln/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52160" y="244144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Server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61888" y="2807208"/>
            <a:ext cx="2112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2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Authorizes, validates, executes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183880" y="2587752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➔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03920" y="2331720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E8ECF4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244144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13648" y="2807208"/>
            <a:ext cx="2112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— returns the data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10881360" cy="2331720"/>
          </a:xfrm>
          <a:prstGeom prst="roundRect">
            <a:avLst>
              <a:gd name="adj" fmla="val 4706"/>
            </a:avLst>
          </a:prstGeom>
          <a:solidFill>
            <a:srgbClr val="F4F6F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RESPONSIBILITIES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" y="4480560"/>
            <a:ext cx="128016" cy="128016"/>
          </a:xfrm>
          <a:prstGeom prst="ellipse">
            <a:avLst/>
          </a:prstGeom>
          <a:solidFill>
            <a:srgbClr val="D4A24E"/>
          </a:solidFill>
          <a:ln/>
        </p:spPr>
      </p:sp>
      <p:sp>
        <p:nvSpPr>
          <p:cNvPr id="23" name="Text 21"/>
          <p:cNvSpPr/>
          <p:nvPr/>
        </p:nvSpPr>
        <p:spPr>
          <a:xfrm>
            <a:off x="1188720" y="4352544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&amp; authorization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97680" y="4480560"/>
            <a:ext cx="128016" cy="128016"/>
          </a:xfrm>
          <a:prstGeom prst="ellipse">
            <a:avLst/>
          </a:prstGeom>
          <a:solidFill>
            <a:srgbClr val="D4A24E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4352544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Executing tools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680960" y="4480560"/>
            <a:ext cx="128016" cy="128016"/>
          </a:xfrm>
          <a:prstGeom prst="ellipse">
            <a:avLst/>
          </a:prstGeom>
          <a:solidFill>
            <a:srgbClr val="D4A24E"/>
          </a:solidFill>
          <a:ln/>
        </p:spPr>
      </p:sp>
      <p:sp>
        <p:nvSpPr>
          <p:cNvPr id="27" name="Text 25"/>
          <p:cNvSpPr/>
          <p:nvPr/>
        </p:nvSpPr>
        <p:spPr>
          <a:xfrm>
            <a:off x="7955280" y="4352544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resources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14400" y="5138928"/>
            <a:ext cx="128016" cy="128016"/>
          </a:xfrm>
          <a:prstGeom prst="ellipse">
            <a:avLst/>
          </a:prstGeom>
          <a:solidFill>
            <a:srgbClr val="D4A24E"/>
          </a:solidFill>
          <a:ln/>
        </p:spPr>
      </p:sp>
      <p:sp>
        <p:nvSpPr>
          <p:cNvPr id="29" name="Text 27"/>
          <p:cNvSpPr/>
          <p:nvPr/>
        </p:nvSpPr>
        <p:spPr>
          <a:xfrm>
            <a:off x="1188720" y="501091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every input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297680" y="5138928"/>
            <a:ext cx="128016" cy="128016"/>
          </a:xfrm>
          <a:prstGeom prst="ellipse">
            <a:avLst/>
          </a:prstGeom>
          <a:solidFill>
            <a:srgbClr val="D4A24E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0" y="501091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the database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6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BRIGHTPEAK ACADEMY  •  MCP AI ASSISTANT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SQLite, modeled around 8 core entities and their relationships.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82296" cy="292608"/>
          </a:xfrm>
          <a:prstGeom prst="roundRect">
            <a:avLst/>
          </a:prstGeom>
          <a:solidFill>
            <a:srgbClr val="D4A24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1109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82296" cy="292608"/>
          </a:xfrm>
          <a:prstGeom prst="roundRect">
            <a:avLst/>
          </a:prstGeom>
          <a:solidFill>
            <a:srgbClr val="D4A24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39572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935224"/>
            <a:ext cx="82296" cy="292608"/>
          </a:xfrm>
          <a:prstGeom prst="roundRect">
            <a:avLst/>
          </a:prstGeom>
          <a:solidFill>
            <a:srgbClr val="D4A24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8803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419856"/>
            <a:ext cx="82296" cy="292608"/>
          </a:xfrm>
          <a:prstGeom prst="roundRect">
            <a:avLst/>
          </a:prstGeom>
          <a:solidFill>
            <a:srgbClr val="D4A24E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36499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904488"/>
            <a:ext cx="82296" cy="292608"/>
          </a:xfrm>
          <a:prstGeom prst="roundRect">
            <a:avLst/>
          </a:prstGeom>
          <a:solidFill>
            <a:srgbClr val="D4A24E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4962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82296" cy="292608"/>
          </a:xfrm>
          <a:prstGeom prst="roundRect">
            <a:avLst/>
          </a:prstGeom>
          <a:solidFill>
            <a:srgbClr val="D4A24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33425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873752"/>
            <a:ext cx="82296" cy="292608"/>
          </a:xfrm>
          <a:prstGeom prst="roundRect">
            <a:avLst/>
          </a:prstGeom>
          <a:solidFill>
            <a:srgbClr val="D4A24E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8188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358384"/>
            <a:ext cx="82296" cy="292608"/>
          </a:xfrm>
          <a:prstGeom prst="roundRect">
            <a:avLst/>
          </a:prstGeom>
          <a:solidFill>
            <a:srgbClr val="D4A24E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3035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598017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ERD.png · schema.sql · seed.sql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417320"/>
            <a:ext cx="6949440" cy="4846320"/>
          </a:xfrm>
          <a:prstGeom prst="roundRect">
            <a:avLst>
              <a:gd name="adj" fmla="val 1509"/>
            </a:avLst>
          </a:prstGeom>
          <a:solidFill>
            <a:srgbClr val="F4F6FA"/>
          </a:solidFill>
          <a:ln w="12700">
            <a:solidFill>
              <a:srgbClr val="E1E5EE"/>
            </a:solidFill>
            <a:prstDash val="solid"/>
          </a:ln>
          <a:effectLst>
            <a:outerShdw blurRad="1778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3" name="Image 0" descr="/home/claude/assets/E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0079" y="1737360"/>
            <a:ext cx="5636161" cy="420624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6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BRIGHTPEAK ACADEMY  •  MCP AI ASSISTANT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Required MCP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21D35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099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D4A24E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09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22199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 Negotiation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2679192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announces capabilities on connect; client verifies them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55848" y="15087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21D35"/>
          </a:solidFill>
          <a:ln/>
        </p:spPr>
      </p:sp>
      <p:sp>
        <p:nvSpPr>
          <p:cNvPr id="10" name="Shape 8"/>
          <p:cNvSpPr/>
          <p:nvPr/>
        </p:nvSpPr>
        <p:spPr>
          <a:xfrm>
            <a:off x="3557016" y="17099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D4A24E"/>
          </a:solidFill>
          <a:ln/>
        </p:spPr>
      </p:sp>
      <p:sp>
        <p:nvSpPr>
          <p:cNvPr id="11" name="Text 9"/>
          <p:cNvSpPr/>
          <p:nvPr/>
        </p:nvSpPr>
        <p:spPr>
          <a:xfrm>
            <a:off x="3557016" y="1709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38728" y="222199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38728" y="2679192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changes push tools/list_changed — no reconnect needed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63056" y="15087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21D35"/>
          </a:solidFill>
          <a:ln/>
        </p:spPr>
      </p:sp>
      <p:sp>
        <p:nvSpPr>
          <p:cNvPr id="15" name="Shape 13"/>
          <p:cNvSpPr/>
          <p:nvPr/>
        </p:nvSpPr>
        <p:spPr>
          <a:xfrm>
            <a:off x="6364224" y="17099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D4A24E"/>
          </a:solidFill>
          <a:ln/>
        </p:spPr>
      </p:sp>
      <p:sp>
        <p:nvSpPr>
          <p:cNvPr id="16" name="Text 14"/>
          <p:cNvSpPr/>
          <p:nvPr/>
        </p:nvSpPr>
        <p:spPr>
          <a:xfrm>
            <a:off x="6364224" y="1709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45936" y="222199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Elicitation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345936" y="2679192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writes pause for explicit human confirmation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70264" y="15087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21D35"/>
          </a:solidFill>
          <a:ln/>
        </p:spPr>
      </p:sp>
      <p:sp>
        <p:nvSpPr>
          <p:cNvPr id="20" name="Shape 18"/>
          <p:cNvSpPr/>
          <p:nvPr/>
        </p:nvSpPr>
        <p:spPr>
          <a:xfrm>
            <a:off x="9171432" y="17099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D4A24E"/>
          </a:solidFill>
          <a:ln/>
        </p:spPr>
      </p:sp>
      <p:sp>
        <p:nvSpPr>
          <p:cNvPr id="21" name="Text 19"/>
          <p:cNvSpPr/>
          <p:nvPr/>
        </p:nvSpPr>
        <p:spPr>
          <a:xfrm>
            <a:off x="9171432" y="1709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53144" y="222199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153144" y="2679192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(attendance, scholarship...) exposed as static resources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70332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21D35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39044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D4A24E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3904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" y="441655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31520" y="4873752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Ready-made templates like “Draft Warning Email”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55848" y="370332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21D35"/>
          </a:solidFill>
          <a:ln/>
        </p:spPr>
      </p:sp>
      <p:sp>
        <p:nvSpPr>
          <p:cNvPr id="30" name="Shape 28"/>
          <p:cNvSpPr/>
          <p:nvPr/>
        </p:nvSpPr>
        <p:spPr>
          <a:xfrm>
            <a:off x="3557016" y="39044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D4A24E"/>
          </a:solidFill>
          <a:ln/>
        </p:spPr>
      </p:sp>
      <p:sp>
        <p:nvSpPr>
          <p:cNvPr id="31" name="Text 29"/>
          <p:cNvSpPr/>
          <p:nvPr/>
        </p:nvSpPr>
        <p:spPr>
          <a:xfrm>
            <a:off x="3557016" y="3904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38728" y="441655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Tracking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3538728" y="4873752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report generation streams 10% → 50% → 100%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63056" y="370332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21D35"/>
          </a:solidFill>
          <a:ln/>
        </p:spPr>
      </p:sp>
      <p:sp>
        <p:nvSpPr>
          <p:cNvPr id="35" name="Shape 33"/>
          <p:cNvSpPr/>
          <p:nvPr/>
        </p:nvSpPr>
        <p:spPr>
          <a:xfrm>
            <a:off x="6364224" y="39044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D4A24E"/>
          </a:solidFill>
          <a:ln/>
        </p:spPr>
      </p:sp>
      <p:sp>
        <p:nvSpPr>
          <p:cNvPr id="36" name="Text 34"/>
          <p:cNvSpPr/>
          <p:nvPr/>
        </p:nvSpPr>
        <p:spPr>
          <a:xfrm>
            <a:off x="6364224" y="3904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345936" y="441655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Defensive Tool Design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345936" y="4873752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tool: JSON Schema + validation + authorization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970264" y="370332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21D35"/>
          </a:solidFill>
          <a:ln/>
        </p:spPr>
      </p:sp>
      <p:sp>
        <p:nvSpPr>
          <p:cNvPr id="40" name="Shape 38"/>
          <p:cNvSpPr/>
          <p:nvPr/>
        </p:nvSpPr>
        <p:spPr>
          <a:xfrm>
            <a:off x="9171432" y="39044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D4A24E"/>
          </a:solidFill>
          <a:ln/>
        </p:spPr>
      </p:sp>
      <p:sp>
        <p:nvSpPr>
          <p:cNvPr id="41" name="Text 39"/>
          <p:cNvSpPr/>
          <p:nvPr/>
        </p:nvSpPr>
        <p:spPr>
          <a:xfrm>
            <a:off x="9171432" y="3904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153144" y="441655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9153144" y="4873752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for dev, Streamable HTTP for multi-campus deployment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BRIGHTPEAK ACADEMY  •  MCP AI ASSISTANT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Tiers of Tools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tools stay hidden until a session authenticates — then the server pushes a live tool list update.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F4F6FA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031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103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Read-Only Tools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4871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 every session, including front-desk / unauthenticated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06324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get_student_profile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3538728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53872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get_student_enrollments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4014216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4014216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get_student_attendance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4489704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4489704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get_student_grades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4965192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96519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generate_academic_advisory  (sampling)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" y="54406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544068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generate_course_report  (progress)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080760" y="182880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1B2A4A"/>
          </a:solidFill>
          <a:ln/>
          <a:effectLst>
            <a:outerShdw blurRad="1524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55080" y="21031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D4A24E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03720" y="2103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Tools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03720" y="24871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3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Unlocked only after authenticate_staff (instructor or registrar)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55080" y="3200400"/>
            <a:ext cx="4709160" cy="548640"/>
          </a:xfrm>
          <a:prstGeom prst="roundRect">
            <a:avLst>
              <a:gd name="adj" fmla="val 13333"/>
            </a:avLst>
          </a:prstGeom>
          <a:solidFill>
            <a:srgbClr val="121D35"/>
          </a:solidFill>
          <a:ln/>
        </p:spPr>
      </p:sp>
      <p:sp>
        <p:nvSpPr>
          <p:cNvPr id="28" name="Text 26"/>
          <p:cNvSpPr/>
          <p:nvPr/>
        </p:nvSpPr>
        <p:spPr>
          <a:xfrm>
            <a:off x="6537960" y="320040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record_grade  →  elicits on large overrides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55080" y="3886200"/>
            <a:ext cx="4709160" cy="548640"/>
          </a:xfrm>
          <a:prstGeom prst="roundRect">
            <a:avLst>
              <a:gd name="adj" fmla="val 13333"/>
            </a:avLst>
          </a:prstGeom>
          <a:solidFill>
            <a:srgbClr val="121D35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388620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update_attendance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55080" y="4572000"/>
            <a:ext cx="4709160" cy="548640"/>
          </a:xfrm>
          <a:prstGeom prst="roundRect">
            <a:avLst>
              <a:gd name="adj" fmla="val 13333"/>
            </a:avLst>
          </a:prstGeom>
          <a:solidFill>
            <a:srgbClr val="121D35"/>
          </a:solidFill>
          <a:ln/>
        </p:spPr>
      </p:sp>
      <p:sp>
        <p:nvSpPr>
          <p:cNvPr id="32" name="Text 30"/>
          <p:cNvSpPr/>
          <p:nvPr/>
        </p:nvSpPr>
        <p:spPr>
          <a:xfrm>
            <a:off x="6537960" y="457200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change_enrollment_status  →  elicits past 14-day window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55080" y="534924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 tool re-derives ownership from the database and re-validates input server-side — it never trusts the caller's claims.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6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BRIGHTPEAK ACADEMY  •  MCP AI ASSISTANT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Elicitation &amp; Sampling in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617720"/>
          </a:xfrm>
          <a:prstGeom prst="roundRect">
            <a:avLst>
              <a:gd name="adj" fmla="val 2376"/>
            </a:avLst>
          </a:prstGeom>
          <a:solidFill>
            <a:srgbClr val="F4F6F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ELICITATION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22199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Pause for confirmation before risky writes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834640"/>
            <a:ext cx="4709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97180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 override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51560" y="333756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crosses the scholarship threshold, or overrides an existing grade by 15+ points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" y="4389120"/>
            <a:ext cx="4709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452628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withdrawal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51560" y="489204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 a student past the 14-day no-penalty enrollment window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1600200"/>
            <a:ext cx="5349240" cy="4617720"/>
          </a:xfrm>
          <a:prstGeom prst="roundRect">
            <a:avLst>
              <a:gd name="adj" fmla="val 2376"/>
            </a:avLst>
          </a:prstGeom>
          <a:solidFill>
            <a:srgbClr val="1B2A4A"/>
          </a:solidFill>
          <a:ln/>
          <a:effectLst>
            <a:outerShdw blurRad="1524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0" y="222199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client's own model writes the narrative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83680" y="283464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3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generate_academic_advisory combines a student's grades, attendance, and enrollment status into raw facts — then asks the connected client's model (via sampling/createMessage) to turn them into a short, encouraging advisory note.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0" y="4389120"/>
            <a:ext cx="4709160" cy="1463040"/>
          </a:xfrm>
          <a:prstGeom prst="roundRect">
            <a:avLst>
              <a:gd name="adj" fmla="val 5000"/>
            </a:avLst>
          </a:prstGeom>
          <a:solidFill>
            <a:srgbClr val="121D35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452628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Graceful degradation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766560" y="4846320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connected client doesn't declare sampling support, the tool returns the raw facts instead of failing outright.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6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BRIGHTPEAK ACADEMY  •  MCP AI ASSISTANT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Progress, Resources &amp; Prompts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121D35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8105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4A24E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10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33172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Tracking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2834640"/>
            <a:ext cx="300837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generate_course_report walks every enrolled student and reports real intermediate progress instead of leaving the client blocked on a long-running call.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04672" y="5166360"/>
            <a:ext cx="3008376" cy="4572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9525">
            <a:solidFill>
              <a:srgbClr val="D4A2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516636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4A2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10% → 50% → 100%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7680" y="155448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121D35"/>
          </a:solidFill>
          <a:ln/>
        </p:spPr>
      </p:sp>
      <p:sp>
        <p:nvSpPr>
          <p:cNvPr id="12" name="Shape 10"/>
          <p:cNvSpPr/>
          <p:nvPr/>
        </p:nvSpPr>
        <p:spPr>
          <a:xfrm>
            <a:off x="4553712" y="18105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4A24E"/>
          </a:solidFill>
          <a:ln/>
        </p:spPr>
      </p:sp>
      <p:sp>
        <p:nvSpPr>
          <p:cNvPr id="13" name="Text 11"/>
          <p:cNvSpPr/>
          <p:nvPr/>
        </p:nvSpPr>
        <p:spPr>
          <a:xfrm>
            <a:off x="4553712" y="1810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53712" y="233172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53712" y="2834640"/>
            <a:ext cx="300837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reference data — Attendance, Scholarship, and Academic Integrity policies — served via resources/list + resources/read, kept out of the tool namespace.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53712" y="5166360"/>
            <a:ext cx="3008376" cy="4572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9525">
            <a:solidFill>
              <a:srgbClr val="D4A2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3712" y="516636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4A2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policy://all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46720" y="155448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121D35"/>
          </a:solidFill>
          <a:ln/>
        </p:spPr>
      </p:sp>
      <p:sp>
        <p:nvSpPr>
          <p:cNvPr id="19" name="Shape 17"/>
          <p:cNvSpPr/>
          <p:nvPr/>
        </p:nvSpPr>
        <p:spPr>
          <a:xfrm>
            <a:off x="8302752" y="18105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4A24E"/>
          </a:solidFill>
          <a:ln/>
        </p:spPr>
      </p:sp>
      <p:sp>
        <p:nvSpPr>
          <p:cNvPr id="20" name="Text 18"/>
          <p:cNvSpPr/>
          <p:nvPr/>
        </p:nvSpPr>
        <p:spPr>
          <a:xfrm>
            <a:off x="8302752" y="1810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02752" y="233172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02752" y="2834640"/>
            <a:ext cx="300837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Ready-made, parameterised templates for common staff tasks, so every client gets the same carefully-worded instructions.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302752" y="5166360"/>
            <a:ext cx="3008376" cy="4572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9525">
            <a:solidFill>
              <a:srgbClr val="D4A24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02752" y="516636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4A2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draft_attendance_warning()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BRIGHTPEAK ACADEMY  •  MCP AI ASSISTANT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5A5CA4B6-6E9B-2813-6240-697FF9029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7" y="0"/>
            <a:ext cx="121354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934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C12DCE47-3A22-7BF6-4711-B0285D9E0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803"/>
            <a:ext cx="12192000" cy="4365569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D1C3F9E-DA9F-3F40-09F7-3DF4F9022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04697"/>
            <a:ext cx="12192000" cy="2353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93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B86D3511-26DC-7AC1-4A5D-5AD9ED63A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4080681"/>
          </a:xfrm>
          <a:prstGeom prst="rect">
            <a:avLst/>
          </a:prstGeom>
        </p:spPr>
      </p:pic>
      <p:pic>
        <p:nvPicPr>
          <p:cNvPr id="7" name="Picture 6" descr="A blue screen with white text&#10;&#10;AI-generated content may be incorrect.">
            <a:extLst>
              <a:ext uri="{FF2B5EF4-FFF2-40B4-BE49-F238E27FC236}">
                <a16:creationId xmlns:a16="http://schemas.microsoft.com/office/drawing/2014/main" id="{07E4784E-208C-A683-5F6A-DECF3B4913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4080680"/>
            <a:ext cx="12192000" cy="371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2371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F8052E2-7507-191F-0325-4EFD5E455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871" y="0"/>
            <a:ext cx="112042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9040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121D35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21D3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1600200" cy="1600200"/>
          </a:xfrm>
          <a:prstGeom prst="roundRect">
            <a:avLst>
              <a:gd name="adj" fmla="val 10286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/home/claude/assets/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914400"/>
            <a:ext cx="1325880" cy="1325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97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BRIGHTPEAK ACADEMY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30632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Memory &amp; RAG Extension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41605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the same assistant with </a:t>
            </a:r>
            <a:r>
              <a:rPr lang="en-US" sz="150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</a:t>
            </a: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retrieval-augmented reasoning over the full policy manuals.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SYSTEM   •   RAG PIPELINE   •   CONTEXT MANAGEMENT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promote-or-drop pipeline for durable context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conversation flows through short-term buffers before durable facts get promoted into long-term memory.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E8ECF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44144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Short-Term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2807208"/>
            <a:ext cx="2112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buffer, returns evicted items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80360" y="2587752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➔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00400" y="2331720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E8ECF4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244144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Scratchpad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10128" y="2807208"/>
            <a:ext cx="2112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/ sub-goal state — never pruned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532120" y="2587752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➔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852160" y="2331720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D4A24E"/>
          </a:solidFill>
          <a:ln/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52160" y="244144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61888" y="2807208"/>
            <a:ext cx="2112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2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Promote-or-drop: forget or episodic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183880" y="2587752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➔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03920" y="2331720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E8ECF4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244144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Episodic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13648" y="2807208"/>
            <a:ext cx="2112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SQLite episodes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10881360" cy="2331720"/>
          </a:xfrm>
          <a:prstGeom prst="roundRect">
            <a:avLst>
              <a:gd name="adj" fmla="val 4706"/>
            </a:avLst>
          </a:prstGeom>
          <a:solidFill>
            <a:srgbClr val="F4F6F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FLOW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" y="4480560"/>
            <a:ext cx="128016" cy="128016"/>
          </a:xfrm>
          <a:prstGeom prst="ellipse">
            <a:avLst/>
          </a:prstGeom>
          <a:solidFill>
            <a:srgbClr val="D4A24E"/>
          </a:solidFill>
          <a:ln/>
        </p:spPr>
      </p:sp>
      <p:sp>
        <p:nvSpPr>
          <p:cNvPr id="23" name="Text 21"/>
          <p:cNvSpPr/>
          <p:nvPr/>
        </p:nvSpPr>
        <p:spPr>
          <a:xfrm>
            <a:off x="1188720" y="4352544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memory — versioned facts, expiration &amp; supersession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97680" y="4480560"/>
            <a:ext cx="128016" cy="128016"/>
          </a:xfrm>
          <a:prstGeom prst="ellipse">
            <a:avLst/>
          </a:prstGeom>
          <a:solidFill>
            <a:srgbClr val="D4A24E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4352544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 layer promotes recurring facts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680960" y="4480560"/>
            <a:ext cx="128016" cy="128016"/>
          </a:xfrm>
          <a:prstGeom prst="ellipse">
            <a:avLst/>
          </a:prstGeom>
          <a:solidFill>
            <a:srgbClr val="D4A24E"/>
          </a:solidFill>
          <a:ln/>
        </p:spPr>
      </p:sp>
      <p:sp>
        <p:nvSpPr>
          <p:cNvPr id="27" name="Text 25"/>
          <p:cNvSpPr/>
          <p:nvPr/>
        </p:nvSpPr>
        <p:spPr>
          <a:xfrm>
            <a:off x="7955280" y="4352544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&amp; verification run on every turn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14400" y="5138928"/>
            <a:ext cx="128016" cy="128016"/>
          </a:xfrm>
          <a:prstGeom prst="ellipse">
            <a:avLst/>
          </a:prstGeom>
          <a:solidFill>
            <a:srgbClr val="D4A24E"/>
          </a:solidFill>
          <a:ln/>
        </p:spPr>
      </p:sp>
      <p:sp>
        <p:nvSpPr>
          <p:cNvPr id="29" name="Text 27"/>
          <p:cNvSpPr/>
          <p:nvPr/>
        </p:nvSpPr>
        <p:spPr>
          <a:xfrm>
            <a:off x="1188720" y="501091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logs its reasoning for every decision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297680" y="5138928"/>
            <a:ext cx="128016" cy="128016"/>
          </a:xfrm>
          <a:prstGeom prst="ellipse">
            <a:avLst/>
          </a:prstGeom>
          <a:solidFill>
            <a:srgbClr val="D4A24E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0" y="501091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integrated into the MCP agent loop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6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BRIGHTPEAK ACADEMY  •  MCP AI ASSISTANT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Failures Real Usage Exposed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staff used the Phase 1 assistant day to day, the same two gaps kept recurring.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F4F6FA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031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103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Memory Gap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4871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 re-explain the same student's scholarship risk, attendance warnings, and preferred track every new session.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06324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forgets everything once a session ends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3538728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53872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persistent view of a student across visits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4014216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4014216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context costs staff time on every call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4489704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4489704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 risk &amp; track preference re-explained each time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4965192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96519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durable record of prior advisory notes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" y="54406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544068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with Short-Term, Episodic &amp; Semantic memory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080760" y="182880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1B2A4A"/>
          </a:solidFill>
          <a:ln/>
          <a:effectLst>
            <a:outerShdw blurRad="1524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55080" y="21031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D4A24E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03720" y="2103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Knowledge Gap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03720" y="24871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3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manuals are too detailed for policy:// resources and not searchable at the passage level.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55080" y="3200400"/>
            <a:ext cx="4709160" cy="548640"/>
          </a:xfrm>
          <a:prstGeom prst="roundRect">
            <a:avLst>
              <a:gd name="adj" fmla="val 13333"/>
            </a:avLst>
          </a:prstGeom>
          <a:solidFill>
            <a:srgbClr val="121D35"/>
          </a:solidFill>
          <a:ln/>
        </p:spPr>
      </p:sp>
      <p:sp>
        <p:nvSpPr>
          <p:cNvPr id="28" name="Text 26"/>
          <p:cNvSpPr/>
          <p:nvPr/>
        </p:nvSpPr>
        <p:spPr>
          <a:xfrm>
            <a:off x="6537960" y="320040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thresholds &amp; Protocol 4.2b special arrangements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55080" y="3886200"/>
            <a:ext cx="4709160" cy="548640"/>
          </a:xfrm>
          <a:prstGeom prst="roundRect">
            <a:avLst>
              <a:gd name="adj" fmla="val 13333"/>
            </a:avLst>
          </a:prstGeom>
          <a:solidFill>
            <a:srgbClr val="121D35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388620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Late-submission ladders and integrity sanctions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55080" y="4572000"/>
            <a:ext cx="4709160" cy="548640"/>
          </a:xfrm>
          <a:prstGeom prst="roundRect">
            <a:avLst>
              <a:gd name="adj" fmla="val 13333"/>
            </a:avLst>
          </a:prstGeom>
          <a:solidFill>
            <a:srgbClr val="121D35"/>
          </a:solidFill>
          <a:ln/>
        </p:spPr>
      </p:sp>
      <p:sp>
        <p:nvSpPr>
          <p:cNvPr id="32" name="Text 30"/>
          <p:cNvSpPr/>
          <p:nvPr/>
        </p:nvSpPr>
        <p:spPr>
          <a:xfrm>
            <a:off x="6537960" y="457200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multi-hop reasoning across scattered documents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55080" y="534924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problem could be solved by adding more MCP tools — both needed dedicated subsystems: a memory system and a RAG pipeline.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6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BRIGHTPEAK ACADEMY  •  MCP AI ASSISTANT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507932C-DEA8-732C-DBC2-50B9FB6E99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318"/>
          <a:stretch>
            <a:fillRect/>
          </a:stretch>
        </p:blipFill>
        <p:spPr>
          <a:xfrm>
            <a:off x="1064526" y="1"/>
            <a:ext cx="971720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004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0">
            <a:extLst>
              <a:ext uri="{FF2B5EF4-FFF2-40B4-BE49-F238E27FC236}">
                <a16:creationId xmlns:a16="http://schemas.microsoft.com/office/drawing/2014/main" id="{FFA86F47-28E0-36D1-A7CD-BF2DCC42E02D}"/>
              </a:ext>
            </a:extLst>
          </p:cNvPr>
          <p:cNvSpPr/>
          <p:nvPr/>
        </p:nvSpPr>
        <p:spPr>
          <a:xfrm>
            <a:off x="472440" y="2286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Window Management — Strategy Comparison</a:t>
            </a:r>
            <a:endParaRPr lang="en-US" sz="2700" dirty="0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2280B097-CCC1-FB1C-16B6-3B3234F283AD}"/>
              </a:ext>
            </a:extLst>
          </p:cNvPr>
          <p:cNvSpPr/>
          <p:nvPr/>
        </p:nvSpPr>
        <p:spPr>
          <a:xfrm>
            <a:off x="472440" y="868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test cases × 4 strategies, evaluated in context_eval/ — owned by Ahmed.</a:t>
            </a:r>
            <a:endParaRPr lang="en-US" sz="1400" dirty="0"/>
          </a:p>
        </p:txBody>
      </p:sp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870663B7-6C44-305C-8AB3-96978B1F125F}"/>
              </a:ext>
            </a:extLst>
          </p:cNvPr>
          <p:cNvGraphicFramePr/>
          <p:nvPr/>
        </p:nvGraphicFramePr>
        <p:xfrm>
          <a:off x="472440" y="1417320"/>
          <a:ext cx="64922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7" name="Shape 2">
            <a:extLst>
              <a:ext uri="{FF2B5EF4-FFF2-40B4-BE49-F238E27FC236}">
                <a16:creationId xmlns:a16="http://schemas.microsoft.com/office/drawing/2014/main" id="{7FEF55AB-E5B3-114F-9005-B3403FBC0B23}"/>
              </a:ext>
            </a:extLst>
          </p:cNvPr>
          <p:cNvSpPr/>
          <p:nvPr/>
        </p:nvSpPr>
        <p:spPr>
          <a:xfrm>
            <a:off x="7239000" y="1417320"/>
            <a:ext cx="4297680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6E410E77-F044-B3DA-B6C9-3EAC1FDD75A1}"/>
              </a:ext>
            </a:extLst>
          </p:cNvPr>
          <p:cNvSpPr/>
          <p:nvPr/>
        </p:nvSpPr>
        <p:spPr>
          <a:xfrm>
            <a:off x="7421880" y="15544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4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83.3%</a:t>
            </a:r>
            <a:endParaRPr lang="en-US" sz="4400" dirty="0"/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4EE50D66-03AA-E5B8-AC03-B8FB75906640}"/>
              </a:ext>
            </a:extLst>
          </p:cNvPr>
          <p:cNvSpPr/>
          <p:nvPr/>
        </p:nvSpPr>
        <p:spPr>
          <a:xfrm>
            <a:off x="7421880" y="23317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Zone-Based Pruning wins — highest accuracy (5/6 passed) with an 11.2% token reduction.</a:t>
            </a:r>
            <a:endParaRPr lang="en-US" sz="1150" dirty="0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1954F236-7ED5-4997-C744-BD707E058C5E}"/>
              </a:ext>
            </a:extLst>
          </p:cNvPr>
          <p:cNvSpPr/>
          <p:nvPr/>
        </p:nvSpPr>
        <p:spPr>
          <a:xfrm>
            <a:off x="7239000" y="3611880"/>
            <a:ext cx="4297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          Reduction     Latency
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Sliding Window     22.9%         0.006 ms
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Obs. Masking       −4.6%         0.014 ms
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Recursive Summary  −3.1%         0.020 ms
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Zone Pruning       11.2%         0.085 ms</a:t>
            </a:r>
            <a:endParaRPr lang="en-US" sz="1050" dirty="0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0555B6D7-3DFF-2227-0DE7-C450C90C329E}"/>
              </a:ext>
            </a:extLst>
          </p:cNvPr>
          <p:cNvSpPr/>
          <p:nvPr/>
        </p:nvSpPr>
        <p:spPr>
          <a:xfrm>
            <a:off x="38100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Brightpeak Academy Assistant  ·  Phase 2</a:t>
            </a:r>
            <a:endParaRPr lang="en-US" sz="900" dirty="0"/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2565076D-DC3C-C3A7-6887-C1368E362C2B}"/>
              </a:ext>
            </a:extLst>
          </p:cNvPr>
          <p:cNvSpPr/>
          <p:nvPr/>
        </p:nvSpPr>
        <p:spPr>
          <a:xfrm>
            <a:off x="11445240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7675450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Numbers Behind Every Decision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617720"/>
          </a:xfrm>
          <a:prstGeom prst="roundRect">
            <a:avLst>
              <a:gd name="adj" fmla="val 2376"/>
            </a:avLst>
          </a:prstGeom>
          <a:solidFill>
            <a:srgbClr val="F4F6F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MANAGEMENT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22199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test cases × 4 strategies — zone-based pruning wins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834640"/>
            <a:ext cx="4709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97180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83.3% accuracy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51560" y="333756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Zone-Based Pruning — highest accuracy (5/6 passed), 11.2% token reduction, 0.085ms latency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" y="4389120"/>
            <a:ext cx="4709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452628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66.7% accuracy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51560" y="489204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Window, Observation Masking &amp; Recursive Summary all tie — none beat simple pruning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1600200"/>
            <a:ext cx="5349240" cy="4617720"/>
          </a:xfrm>
          <a:prstGeom prst="roundRect">
            <a:avLst>
              <a:gd name="adj" fmla="val 2376"/>
            </a:avLst>
          </a:prstGeom>
          <a:solidFill>
            <a:srgbClr val="1B2A4A"/>
          </a:solidFill>
          <a:ln/>
          <a:effectLst>
            <a:outerShdw blurRad="1524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(RAG)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0" y="222199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domain questions scored across 4 architectures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83680" y="283464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3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and Agentic RAG both reach 89% accuracy — Hybrid is the fast default, Agentic is reserved for multi-part, decomposition-heavy questions. Naive RAG trails at 86%.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0" y="4389120"/>
            <a:ext cx="4709160" cy="1463040"/>
          </a:xfrm>
          <a:prstGeom prst="roundRect">
            <a:avLst>
              <a:gd name="adj" fmla="val 5000"/>
            </a:avLst>
          </a:prstGeom>
          <a:solidFill>
            <a:srgbClr val="121D35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452628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RAG — optional path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766560" y="4846320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on relationship-heavy questions (q11) but needs tighter entity linking; kept available, not the default.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6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BRIGHTPEAK ACADEMY  •  MCP AI ASSISTANT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policy manuals into searchable knowledge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detailed policy &amp; handbook documents are chunked, embedded, and indexed for passage-level retrieval.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E8ECF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44144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2807208"/>
            <a:ext cx="2112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policy &amp; handbook files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80360" y="2587752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➔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00400" y="2331720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E8ECF4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244144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10128" y="2807208"/>
            <a:ext cx="2112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Heading-aware, with overlap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532120" y="2587752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➔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852160" y="2331720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D4A24E"/>
          </a:solidFill>
          <a:ln/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52160" y="244144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61888" y="2807208"/>
            <a:ext cx="2112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2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Vectorizes every chunk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183880" y="2587752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➔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03920" y="2331720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E8ECF4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244144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DB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13648" y="2807208"/>
            <a:ext cx="2112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ANN index + metadata filter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10881360" cy="2331720"/>
          </a:xfrm>
          <a:prstGeom prst="roundRect">
            <a:avLst>
              <a:gd name="adj" fmla="val 4706"/>
            </a:avLst>
          </a:prstGeom>
          <a:solidFill>
            <a:srgbClr val="F4F6F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RETRIEVAL ARCHITECTURES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" y="4480560"/>
            <a:ext cx="128016" cy="128016"/>
          </a:xfrm>
          <a:prstGeom prst="ellipse">
            <a:avLst/>
          </a:prstGeom>
          <a:solidFill>
            <a:srgbClr val="D4A24E"/>
          </a:solidFill>
          <a:ln/>
        </p:spPr>
      </p:sp>
      <p:sp>
        <p:nvSpPr>
          <p:cNvPr id="23" name="Text 21"/>
          <p:cNvSpPr/>
          <p:nvPr/>
        </p:nvSpPr>
        <p:spPr>
          <a:xfrm>
            <a:off x="1188720" y="4352544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RAG — baseline retrieve-then-generate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97680" y="4480560"/>
            <a:ext cx="128016" cy="128016"/>
          </a:xfrm>
          <a:prstGeom prst="ellipse">
            <a:avLst/>
          </a:prstGeom>
          <a:solidFill>
            <a:srgbClr val="D4A24E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4352544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— vector + BM25 fused scores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680960" y="4480560"/>
            <a:ext cx="128016" cy="128016"/>
          </a:xfrm>
          <a:prstGeom prst="ellipse">
            <a:avLst/>
          </a:prstGeom>
          <a:solidFill>
            <a:srgbClr val="D4A24E"/>
          </a:solidFill>
          <a:ln/>
        </p:spPr>
      </p:sp>
      <p:sp>
        <p:nvSpPr>
          <p:cNvPr id="27" name="Text 25"/>
          <p:cNvSpPr/>
          <p:nvPr/>
        </p:nvSpPr>
        <p:spPr>
          <a:xfrm>
            <a:off x="7955280" y="4352544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— multi-hop retrieve, grade, rewrite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14400" y="5138928"/>
            <a:ext cx="128016" cy="128016"/>
          </a:xfrm>
          <a:prstGeom prst="ellipse">
            <a:avLst/>
          </a:prstGeom>
          <a:solidFill>
            <a:srgbClr val="D4A24E"/>
          </a:solidFill>
          <a:ln/>
        </p:spPr>
      </p:sp>
      <p:sp>
        <p:nvSpPr>
          <p:cNvPr id="29" name="Text 27"/>
          <p:cNvSpPr/>
          <p:nvPr/>
        </p:nvSpPr>
        <p:spPr>
          <a:xfrm>
            <a:off x="1188720" y="501091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Self-RAG — relevance &amp; support verification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297680" y="5138928"/>
            <a:ext cx="128016" cy="128016"/>
          </a:xfrm>
          <a:prstGeom prst="ellipse">
            <a:avLst/>
          </a:prstGeom>
          <a:solidFill>
            <a:srgbClr val="D4A24E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0" y="501091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RAG (bonus) — policy entity graph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6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BRIGHTPEAK ACADEMY  •  MCP AI ASSISTANT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SHIPPING 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Driven by the Evaluation Table, Not Intuition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121D35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8105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4A24E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10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33172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2834640"/>
            <a:ext cx="300837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— fast, accurate citation and general policy lookups while staff wait on a call.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04672" y="5166360"/>
            <a:ext cx="3008376" cy="4572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9525">
            <a:solidFill>
              <a:srgbClr val="D4A2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516636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4A2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Hybrid Search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7680" y="155448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121D35"/>
          </a:solidFill>
          <a:ln/>
        </p:spPr>
      </p:sp>
      <p:sp>
        <p:nvSpPr>
          <p:cNvPr id="12" name="Shape 10"/>
          <p:cNvSpPr/>
          <p:nvPr/>
        </p:nvSpPr>
        <p:spPr>
          <a:xfrm>
            <a:off x="4553712" y="18105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4A24E"/>
          </a:solidFill>
          <a:ln/>
        </p:spPr>
      </p:sp>
      <p:sp>
        <p:nvSpPr>
          <p:cNvPr id="13" name="Text 11"/>
          <p:cNvSpPr/>
          <p:nvPr/>
        </p:nvSpPr>
        <p:spPr>
          <a:xfrm>
            <a:off x="4553712" y="1810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53712" y="233172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Multi-part questions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53712" y="2834640"/>
            <a:ext cx="300837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automatically to Agentic RAG for decomposition-heavy, multi-condition eligibility questions.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53712" y="5166360"/>
            <a:ext cx="3008376" cy="4572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9525">
            <a:solidFill>
              <a:srgbClr val="D4A2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3712" y="516636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4A2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Agentic RAG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46720" y="155448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121D35"/>
          </a:solidFill>
          <a:ln/>
        </p:spPr>
      </p:sp>
      <p:sp>
        <p:nvSpPr>
          <p:cNvPr id="19" name="Shape 17"/>
          <p:cNvSpPr/>
          <p:nvPr/>
        </p:nvSpPr>
        <p:spPr>
          <a:xfrm>
            <a:off x="8302752" y="18105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4A24E"/>
          </a:solidFill>
          <a:ln/>
        </p:spPr>
      </p:sp>
      <p:sp>
        <p:nvSpPr>
          <p:cNvPr id="20" name="Text 18"/>
          <p:cNvSpPr/>
          <p:nvPr/>
        </p:nvSpPr>
        <p:spPr>
          <a:xfrm>
            <a:off x="8302752" y="1810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02752" y="233172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 queries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02752" y="2834640"/>
            <a:ext cx="300837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RAG is available on demand for entity/threshold-linked reasoning — not used as the default path.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302752" y="5166360"/>
            <a:ext cx="3008376" cy="4572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9525">
            <a:solidFill>
              <a:srgbClr val="D4A24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02752" y="516636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4A2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 RAG (optional)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BRIGHTPEAK ACADEMY  •  MCP AI ASSISTANT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5029200" cy="5029200"/>
          </a:xfrm>
          <a:prstGeom prst="ellipse">
            <a:avLst/>
          </a:prstGeom>
          <a:solidFill>
            <a:srgbClr val="121D35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640080"/>
            <a:ext cx="118872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</p:sp>
      <p:pic>
        <p:nvPicPr>
          <p:cNvPr id="4" name="Image 0" descr="/home/claude/assets/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73152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1488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Secure, structured, and student-first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2788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Brightpeak Academy's assistant proves that an LLM can be genuinely useful in a sensitive domain — academic records — without ever holding the keys to the database itself.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931920"/>
            <a:ext cx="2468880" cy="548640"/>
          </a:xfrm>
          <a:prstGeom prst="roundRect">
            <a:avLst>
              <a:gd name="adj" fmla="val 50000"/>
            </a:avLst>
          </a:prstGeom>
          <a:solidFill>
            <a:srgbClr val="121D35"/>
          </a:solidFill>
          <a:ln w="9525">
            <a:solidFill>
              <a:srgbClr val="D4A24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3931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Protocol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46120" y="3931920"/>
            <a:ext cx="2468880" cy="548640"/>
          </a:xfrm>
          <a:prstGeom prst="roundRect">
            <a:avLst>
              <a:gd name="adj" fmla="val 50000"/>
            </a:avLst>
          </a:prstGeom>
          <a:solidFill>
            <a:srgbClr val="121D35"/>
          </a:solidFill>
          <a:ln w="9525">
            <a:solidFill>
              <a:srgbClr val="D4A24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46120" y="3931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LLM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43600" y="3931920"/>
            <a:ext cx="2468880" cy="548640"/>
          </a:xfrm>
          <a:prstGeom prst="roundRect">
            <a:avLst>
              <a:gd name="adj" fmla="val 50000"/>
            </a:avLst>
          </a:prstGeom>
          <a:solidFill>
            <a:srgbClr val="121D35"/>
          </a:solidFill>
          <a:ln w="9525">
            <a:solidFill>
              <a:srgbClr val="D4A24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0" y="3931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641080" y="3931920"/>
            <a:ext cx="2468880" cy="548640"/>
          </a:xfrm>
          <a:prstGeom prst="roundRect">
            <a:avLst>
              <a:gd name="adj" fmla="val 50000"/>
            </a:avLst>
          </a:prstGeom>
          <a:solidFill>
            <a:srgbClr val="121D35"/>
          </a:solidFill>
          <a:ln w="9525">
            <a:solidFill>
              <a:srgbClr val="D4A24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41080" y="3931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(FastMCP)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51206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BRIGHTPEAK ACADEMY  •  MCP AI ASSISTANT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ue background with blue and orange letters&#10;&#10;AI-generated content may be incorrect.">
            <a:extLst>
              <a:ext uri="{FF2B5EF4-FFF2-40B4-BE49-F238E27FC236}">
                <a16:creationId xmlns:a16="http://schemas.microsoft.com/office/drawing/2014/main" id="{4062BF34-E533-196F-4657-E0526D380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E6B317D4-175F-7607-EFA2-B67743520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6455" y="3608411"/>
            <a:ext cx="3375546" cy="337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33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1527</Words>
  <Application>Microsoft Office PowerPoint</Application>
  <PresentationFormat>Widescreen</PresentationFormat>
  <Paragraphs>285</Paragraphs>
  <Slides>24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ahmed mostafa</cp:lastModifiedBy>
  <cp:revision>6</cp:revision>
  <dcterms:created xsi:type="dcterms:W3CDTF">2026-07-31T19:25:54Z</dcterms:created>
  <dcterms:modified xsi:type="dcterms:W3CDTF">2026-08-07T18:51:39Z</dcterms:modified>
</cp:coreProperties>
</file>