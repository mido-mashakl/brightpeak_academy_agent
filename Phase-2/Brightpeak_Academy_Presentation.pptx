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6" r:id="rId2"/>
    <p:sldId id="268" r:id="rId3"/>
    <p:sldId id="256" r:id="rId4"/>
    <p:sldId id="258" r:id="rId5"/>
    <p:sldId id="257" r:id="rId6"/>
    <p:sldId id="259" r:id="rId7"/>
    <p:sldId id="260" r:id="rId8"/>
    <p:sldId id="261" r:id="rId9"/>
    <p:sldId id="262" r:id="rId10"/>
    <p:sldId id="263" r:id="rId11"/>
    <p:sldId id="269" r:id="rId12"/>
    <p:sldId id="270" r:id="rId13"/>
    <p:sldId id="271" r:id="rId14"/>
    <p:sldId id="272" r:id="rId15"/>
    <p:sldId id="265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190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8D7D058B-0C23-C7C5-770B-BD8F66AFD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358" y="0"/>
            <a:ext cx="7287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7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">
            <a:extLst>
              <a:ext uri="{FF2B5EF4-FFF2-40B4-BE49-F238E27FC236}">
                <a16:creationId xmlns:a16="http://schemas.microsoft.com/office/drawing/2014/main" id="{E12247AA-53DC-B850-D8E1-0F94C181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6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6002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asset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14400"/>
            <a:ext cx="1325880" cy="132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Management Assistant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for students, instructors, </a:t>
            </a:r>
            <a:r>
              <a:rPr lang="en-US" sz="150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admins </a:t>
            </a: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Model Context Protocol (MCP), with every request mediated by a secure server that stands between the LLM and the database.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  •   GEMINI LLM   •   SQLITE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"Show me student #1's profile"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21D35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0" cy="256032"/>
          </a:xfrm>
          <a:prstGeom prst="line">
            <a:avLst/>
          </a:prstGeom>
          <a:noFill/>
          <a:ln w="19050">
            <a:solidFill>
              <a:srgbClr val="3A456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34440" y="1627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Client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16276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user's natural-language request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457200" cy="457200"/>
          </a:xfrm>
          <a:prstGeom prst="ellipse">
            <a:avLst/>
          </a:prstGeom>
          <a:solidFill>
            <a:srgbClr val="121D35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816352"/>
            <a:ext cx="0" cy="256032"/>
          </a:xfrm>
          <a:prstGeom prst="line">
            <a:avLst/>
          </a:prstGeom>
          <a:noFill/>
          <a:ln w="19050">
            <a:solidFill>
              <a:srgbClr val="3A456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234440" y="23408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decides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234086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student data” → picks a tool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457200" cy="457200"/>
          </a:xfrm>
          <a:prstGeom prst="ellipse">
            <a:avLst/>
          </a:prstGeom>
          <a:solidFill>
            <a:srgbClr val="121D35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3529584"/>
            <a:ext cx="0" cy="256032"/>
          </a:xfrm>
          <a:prstGeom prst="line">
            <a:avLst/>
          </a:prstGeom>
          <a:noFill/>
          <a:ln w="19050">
            <a:solidFill>
              <a:srgbClr val="3A456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34440" y="30540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Agent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305409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call_tool(“get_student_profile”, {student_id: 1})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457200" cy="457200"/>
          </a:xfrm>
          <a:prstGeom prst="ellipse">
            <a:avLst/>
          </a:prstGeom>
          <a:solidFill>
            <a:srgbClr val="D4A24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4242816"/>
            <a:ext cx="0" cy="256032"/>
          </a:xfrm>
          <a:prstGeom prst="line">
            <a:avLst/>
          </a:prstGeom>
          <a:noFill/>
          <a:ln w="19050">
            <a:solidFill>
              <a:srgbClr val="3A456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234440" y="3767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0" y="376732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input and checks authorization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498848"/>
            <a:ext cx="457200" cy="457200"/>
          </a:xfrm>
          <a:prstGeom prst="ellipse">
            <a:avLst/>
          </a:prstGeom>
          <a:solidFill>
            <a:srgbClr val="121D35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98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956048"/>
            <a:ext cx="0" cy="256032"/>
          </a:xfrm>
          <a:prstGeom prst="line">
            <a:avLst/>
          </a:prstGeom>
          <a:noFill/>
          <a:ln w="19050">
            <a:solidFill>
              <a:srgbClr val="3A4568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23444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114800" y="4480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query and returns the student's data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121D35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" y="5193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114800" y="51937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the final, natural-language answer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never queries SQLite directly — it only ever decides which tool to call. The MCP Server is the one actually touching the database.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never touches the database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flows through an MCP Server, which owns authorization, tool execution, resource access, and input validation.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natural-language question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8036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(LLM)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1012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tool to call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3212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85216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D4A24E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188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Authorizes, validates, executes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83880" y="2587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233172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8ECF4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13648" y="2807208"/>
            <a:ext cx="211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returns the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RESPONSIBILITIES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authorization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tools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680960" y="4480560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4352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resources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513892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50109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every input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0" y="5138928"/>
            <a:ext cx="128016" cy="128016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50109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database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modeled around 8 core entities and their relationships.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1109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957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80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649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4962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3425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188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358384"/>
            <a:ext cx="82296" cy="292608"/>
          </a:xfrm>
          <a:prstGeom prst="roundRect">
            <a:avLst/>
          </a:prstGeom>
          <a:solidFill>
            <a:srgbClr val="D4A24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03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9801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ERD.png · schema.sql · seed.sql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  <a:effectLst>
            <a:outerShdw blurRad="1778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3" name="Image 0" descr="/home/claude/assets/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079" y="1737360"/>
            <a:ext cx="5636161" cy="42062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Required MCP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9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219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Negotiation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6791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announces capabilities on connect; client verifies them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10" name="Shape 8"/>
          <p:cNvSpPr/>
          <p:nvPr/>
        </p:nvSpPr>
        <p:spPr>
          <a:xfrm>
            <a:off x="3557016" y="1709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11" name="Text 9"/>
          <p:cNvSpPr/>
          <p:nvPr/>
        </p:nvSpPr>
        <p:spPr>
          <a:xfrm>
            <a:off x="3557016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38728" y="22219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38728" y="26791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changes push tools/list_changed — no reconnect needed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15" name="Shape 13"/>
          <p:cNvSpPr/>
          <p:nvPr/>
        </p:nvSpPr>
        <p:spPr>
          <a:xfrm>
            <a:off x="6364224" y="1709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22219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Elicitation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45936" y="26791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writes pause for explicit human confirmation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70264" y="1508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20" name="Shape 18"/>
          <p:cNvSpPr/>
          <p:nvPr/>
        </p:nvSpPr>
        <p:spPr>
          <a:xfrm>
            <a:off x="9171432" y="1709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21" name="Text 19"/>
          <p:cNvSpPr/>
          <p:nvPr/>
        </p:nvSpPr>
        <p:spPr>
          <a:xfrm>
            <a:off x="9171432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53144" y="22219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53144" y="267919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(attendance, scholarship...) exposed as static resources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3904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4165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1520" y="48737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templates like “Draft Warning Email”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30" name="Shape 28"/>
          <p:cNvSpPr/>
          <p:nvPr/>
        </p:nvSpPr>
        <p:spPr>
          <a:xfrm>
            <a:off x="3557016" y="3904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31" name="Text 29"/>
          <p:cNvSpPr/>
          <p:nvPr/>
        </p:nvSpPr>
        <p:spPr>
          <a:xfrm>
            <a:off x="3557016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38728" y="44165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38728" y="48737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report generation streams 10% → 50% → 100%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3056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35" name="Shape 33"/>
          <p:cNvSpPr/>
          <p:nvPr/>
        </p:nvSpPr>
        <p:spPr>
          <a:xfrm>
            <a:off x="6364224" y="3904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36" name="Text 34"/>
          <p:cNvSpPr/>
          <p:nvPr/>
        </p:nvSpPr>
        <p:spPr>
          <a:xfrm>
            <a:off x="6364224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45936" y="44165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Tool Design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345936" y="48737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tool: JSON Schema + validation + authorization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70264" y="37033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D35"/>
          </a:solidFill>
          <a:ln/>
        </p:spPr>
      </p:sp>
      <p:sp>
        <p:nvSpPr>
          <p:cNvPr id="40" name="Shape 38"/>
          <p:cNvSpPr/>
          <p:nvPr/>
        </p:nvSpPr>
        <p:spPr>
          <a:xfrm>
            <a:off x="9171432" y="3904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24E"/>
          </a:solidFill>
          <a:ln/>
        </p:spPr>
      </p:sp>
      <p:sp>
        <p:nvSpPr>
          <p:cNvPr id="41" name="Text 39"/>
          <p:cNvSpPr/>
          <p:nvPr/>
        </p:nvSpPr>
        <p:spPr>
          <a:xfrm>
            <a:off x="9171432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53144" y="44165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153144" y="4873752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for dev, Streamable HTTP for multi-campus deployment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Tiers of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tools stay hidden until a session authenticates — then the server pushes a live tool list update.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Tools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87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every session, including front-desk / unauthenticated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get_student_profile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5387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53872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get_student_enrollments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01421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01421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get_student_attendance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48970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48970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get_student_grades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9651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9651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generate_academic_advisory  (sampling)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4406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440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generate_course_report  (progress)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B2A4A"/>
          </a:solidFill>
          <a:ln/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4A24E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Tools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2487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only after authenticate_staff (instructor or registrar)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320040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121D35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2004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record_grade  →  elicits on large overrides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388620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121D35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8862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update_attendance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457200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121D35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45720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change_enrollment_status  →  elicits past 14-day window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53492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tool re-derives ownership from the database and re-validates input server-side — it never trusts the caller's claims.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Elicitation &amp; Sampling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219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for confirmation before risky writes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97180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override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1560" y="33375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crosses the scholarship threshold, or overrides an existing grade by 15+ points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38912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5262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withdrawal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48920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a student past the 14-day no-penalty enrollment window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1B2A4A"/>
          </a:solidFill>
          <a:ln/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2219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client's own model writes the narrative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generate_academic_advisory combines a student's grades, attendance, and enrollment status into raw facts — then asks the connected client's model (via sampling/createMessage) to turn them into a short, encouraging advisory note.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4389120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121D35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5262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0" y="484632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connected client doesn't declare sampling support, the tool returns the raw facts instead of failing outright.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Progress, Resources &amp; Prompts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21D3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24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generate_course_report walks every enrolled student and reports real intermediate progress instead of leaving the client blocked on a long-running call.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5166360"/>
            <a:ext cx="3008376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51663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 → 50% → 100%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21D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53712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24E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3712" y="23317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28346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reference data — Attendance, Scholarship, and Academic Integrity policies — served via resources/list + resources/read, kept out of the tool namespace.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53712" y="5166360"/>
            <a:ext cx="3008376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51663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policy://all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21D35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1810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24E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2752" y="23317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02752" y="28346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Ready-made, parameterised templates for common staff tasks, so every client gets the same carefully-worded instructions.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02752" y="5166360"/>
            <a:ext cx="3008376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516636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draft_attendance_warning()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5A5CA4B6-6E9B-2813-6240-697FF9029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7" y="0"/>
            <a:ext cx="121354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3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12DCE47-3A22-7BF6-4711-B0285D9E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03"/>
            <a:ext cx="12192000" cy="436556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1C3F9E-DA9F-3F40-09F7-3DF4F9022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04697"/>
            <a:ext cx="12192000" cy="235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93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B86D3511-26DC-7AC1-4A5D-5AD9ED63A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4080681"/>
          </a:xfrm>
          <a:prstGeom prst="rect">
            <a:avLst/>
          </a:prstGeom>
        </p:spPr>
      </p:pic>
      <p:pic>
        <p:nvPicPr>
          <p:cNvPr id="7" name="Picture 6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07E4784E-208C-A683-5F6A-DECF3B4913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4080680"/>
            <a:ext cx="12192000" cy="371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37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8052E2-7507-191F-0325-4EFD5E455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71" y="0"/>
            <a:ext cx="11204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04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121D3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pic>
        <p:nvPicPr>
          <p:cNvPr id="4" name="Image 0" descr="/home/claude/asset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315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488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Secure, structured, and student-first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Academy's assistant proves that an LLM can be genuinely useful in a sensitive domain — academic records — without ever holding the keys to the database itself.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931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21D35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3931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21D35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612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3931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21D35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41080" y="39319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21D35"/>
          </a:solidFill>
          <a:ln w="9525">
            <a:solidFill>
              <a:srgbClr val="D4A2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(FastMCP)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5120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 •  MCP AI ASSISTANT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 with blue and orange letters&#10;&#10;AI-generated content may be incorrect.">
            <a:extLst>
              <a:ext uri="{FF2B5EF4-FFF2-40B4-BE49-F238E27FC236}">
                <a16:creationId xmlns:a16="http://schemas.microsoft.com/office/drawing/2014/main" id="{4062BF34-E533-196F-4657-E0526D380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6B317D4-175F-7607-EFA2-B67743520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455" y="3608411"/>
            <a:ext cx="3375546" cy="33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3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827</Words>
  <Application>Microsoft Office PowerPoint</Application>
  <PresentationFormat>Widescreen</PresentationFormat>
  <Paragraphs>167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mostafa</cp:lastModifiedBy>
  <cp:revision>4</cp:revision>
  <dcterms:created xsi:type="dcterms:W3CDTF">2026-07-31T19:25:54Z</dcterms:created>
  <dcterms:modified xsi:type="dcterms:W3CDTF">2026-07-31T22:01:28Z</dcterms:modified>
</cp:coreProperties>
</file>